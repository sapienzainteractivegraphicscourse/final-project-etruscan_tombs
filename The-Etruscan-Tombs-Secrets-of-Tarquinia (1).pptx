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anrope" panose="020B0604020202020204" charset="0"/>
      <p:regular r:id="rId13"/>
    </p:embeddedFont>
    <p:embeddedFont>
      <p:font typeface="Manrope Bold" panose="020B0604020202020204" charset="0"/>
      <p:regular r:id="rId14"/>
    </p:embeddedFont>
    <p:embeddedFont>
      <p:font typeface="Prata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27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69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5E4919-E033-41C8-AEE2-17504250F7D3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66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291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2562D4-D383-4177-95F1-F65B47D1CEF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1643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9C7A302-1799-4123-960A-AC3BB0278DAE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0210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88643-CA1F-4663-8C06-BD5ECF50899D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719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73E6FC-8E19-48D4-B829-246931AD4AF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044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0AF2805-09FE-4E19-BD3D-273F9C4FB4DD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239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1E532691-8605-4D75-9B37-0F29951CF35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029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AF504E6F-5E20-457A-A4D7-010D88E2AB6A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411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33F4C8-FF6A-458A-9544-1F0DF90A3B6B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57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1E8540-4D23-42CD-8A63-F2EAD91093A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079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B456EB-19FD-4A38-8010-F86DE924658C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73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ADCD4E-3EB5-4828-8896-DAF01418F81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878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8BB81F-FF8D-4CDB-8C81-6D8C7DBC8B8C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615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D491FD6-320B-4F77-8F99-6D2F5BCDF640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3859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08C1C0-E3FE-42AC-82A3-E6DC4F473B5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5046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EEA351-3479-4085-8F9E-571D48233D05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0094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018939-3725-45C4-8448-060C1C945770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348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A68E59-4168-43B1-871D-9D793958CB7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1293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C8A96B5-6C84-4F87-863B-82F8A700BDB6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8936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0380565A-AEC2-4981-9BC9-2BD45633EEB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0461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D0114CA0-7CEA-48F6-8B27-4A03BEF1B362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‹N›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4068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1EDD8A06-915F-45A0-B576-0929C47FD8AE}" type="datetime1">
              <a:rPr lang="en-US" smtClean="0"/>
              <a:t>8/26/2026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‹N›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4459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D05E5D-68FD-447C-A2DD-5EC26B56527F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0254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E5D97B4D-FF2F-4402-9FD4-AE767FCF1FF3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0762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57766D-ED87-4A0C-9B23-F4979C5AA24E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4151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1450B2-75D0-4277-B6D7-7B5D301DCF7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6746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20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5F68458-1A7A-4A29-A16B-4424C6D3B5E6}" type="datetime1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EAA3239-9EA4-4A65-A281-97F994456D9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181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apienzainteractivegraphicscourse.github.io/final-project-etruscan_tomb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614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Etruscan Tombs: Secrets of Tarquinia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77355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Graphics Project — Sapienza University of Rome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r="2351" b="1676"/>
          <a:stretch>
            <a:fillRect/>
          </a:stretch>
        </p:blipFill>
        <p:spPr>
          <a:xfrm>
            <a:off x="3546344" y="1707502"/>
            <a:ext cx="5099313" cy="4870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277791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8032251" y="1614686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is the project?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032251" y="2984996"/>
            <a:ext cx="3504219" cy="238125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First-person exploration game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Inspired by the UNESCO Necropolis of Tarquinia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archaeological experience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Collect three sacred relics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Unlock the Sacred Chamber</a:t>
            </a:r>
            <a:endParaRPr lang="en-US" sz="145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1EE1EF6-3271-CC01-E250-0DED50CB1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28147"/>
            <a:ext cx="6675782" cy="36992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745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does the game work?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28" y="1410692"/>
            <a:ext cx="10325239" cy="4459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97131" y="4180389"/>
            <a:ext cx="1533094" cy="558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Equipment Selection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3397131" y="4818276"/>
            <a:ext cx="1533094" cy="64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Choose your archaeological tools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33719" y="4675713"/>
            <a:ext cx="1533094" cy="27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Collect Relics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333719" y="5034369"/>
            <a:ext cx="1533094" cy="432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 the three sacred artifacts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33722" y="1813133"/>
            <a:ext cx="1533093" cy="27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Main Menu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433722" y="2171789"/>
            <a:ext cx="1533093" cy="432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the adventure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238646" y="1813133"/>
            <a:ext cx="1533094" cy="837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Unlock the Sacred Chamber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238646" y="2730250"/>
            <a:ext cx="1533094" cy="64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 the relics to reveal the hidden passage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89857" y="1813133"/>
            <a:ext cx="1533094" cy="558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Explore &amp; Interact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389857" y="2451020"/>
            <a:ext cx="1533094" cy="64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 tombs and discover hidden secrets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1475" y="6056610"/>
            <a:ext cx="11478330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linear narrative journey through the necropolis, culminating in the sacred chamber ritual.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46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Software Architecture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28751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50482" y="2417762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826445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main.js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Entry point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228751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379308" y="2417762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Environment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9308" y="2826445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world.js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environment.js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809305"/>
            <a:ext cx="5339820" cy="1693962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482" y="399831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UI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4406999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inventory.js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documents.js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809305"/>
            <a:ext cx="5339919" cy="1693962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379308" y="399831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Logic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79308" y="4406999"/>
            <a:ext cx="49619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collision.js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interaction.js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puzzle.js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277691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8032251" y="948432"/>
            <a:ext cx="3504219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was the environment built?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032251" y="2795984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Static Elements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032251" y="3280271"/>
            <a:ext cx="350421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Terrain &amp; Main Path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Six Explorable Tombs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Decorative Tombs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Sacred Chamber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32251" y="4877197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Procedural Elements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032251" y="5361484"/>
            <a:ext cx="350421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Cypress Trees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Animated Clouds</a:t>
            </a:r>
            <a:endParaRPr lang="en-US" sz="145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253538C-993A-DF2D-FCE8-0366A040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3" y="1618836"/>
            <a:ext cx="7617624" cy="3620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77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Graphics Techniques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03152"/>
            <a:ext cx="5373851" cy="150802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4946" y="1535509"/>
            <a:ext cx="22680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730" y="1996777"/>
            <a:ext cx="50333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Procedural Geometry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831730" y="2305546"/>
            <a:ext cx="50333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PlaneGeometry · BoxGeometry · CylinderGeometry · ExtrudeGeometry · LatheGeometry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6270" y="1403152"/>
            <a:ext cx="5373950" cy="150802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9841" y="1535509"/>
            <a:ext cx="226808" cy="22681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26525" y="1996777"/>
            <a:ext cx="50334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Texture Mapping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6326525" y="2305546"/>
            <a:ext cx="50334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Grass · Path · Frescoes · Normal Mapping · Repeating Textures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32125"/>
            <a:ext cx="5373851" cy="150802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4946" y="3164483"/>
            <a:ext cx="226808" cy="22681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31730" y="3625751"/>
            <a:ext cx="50333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Imported Models</a:t>
            </a:r>
            <a:endParaRPr lang="en-US" sz="1450" dirty="0"/>
          </a:p>
        </p:txBody>
      </p:sp>
      <p:sp>
        <p:nvSpPr>
          <p:cNvPr id="14" name="Text 6"/>
          <p:cNvSpPr/>
          <p:nvPr/>
        </p:nvSpPr>
        <p:spPr>
          <a:xfrm>
            <a:off x="831730" y="3934520"/>
            <a:ext cx="50333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GLTFLoader · Sacred Relics · Final Sarcophagus · Decorative Equipment Objects</a:t>
            </a:r>
            <a:endParaRPr lang="en-US" sz="11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6270" y="3032125"/>
            <a:ext cx="5373950" cy="1508026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9841" y="3164483"/>
            <a:ext cx="226808" cy="226814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326525" y="3625751"/>
            <a:ext cx="50334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Lighting &amp; Camera</a:t>
            </a:r>
            <a:endParaRPr lang="en-US" sz="1450" dirty="0"/>
          </a:p>
        </p:txBody>
      </p:sp>
      <p:sp>
        <p:nvSpPr>
          <p:cNvPr id="18" name="Text 8"/>
          <p:cNvSpPr/>
          <p:nvPr/>
        </p:nvSpPr>
        <p:spPr>
          <a:xfrm>
            <a:off x="6326525" y="3934520"/>
            <a:ext cx="50334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Ambient · Directional · Shadow Mapping · PerspectiveCamera · PointerLockControls</a:t>
            </a:r>
            <a:endParaRPr lang="en-US" sz="11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61098"/>
            <a:ext cx="5373851" cy="1508026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34946" y="4793456"/>
            <a:ext cx="226808" cy="22681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831730" y="5254724"/>
            <a:ext cx="50333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Dynamic Scene Updates</a:t>
            </a:r>
            <a:endParaRPr lang="en-US" sz="1450" dirty="0"/>
          </a:p>
        </p:txBody>
      </p:sp>
      <p:sp>
        <p:nvSpPr>
          <p:cNvPr id="22" name="Text 10"/>
          <p:cNvSpPr/>
          <p:nvPr/>
        </p:nvSpPr>
        <p:spPr>
          <a:xfrm>
            <a:off x="831730" y="5563493"/>
            <a:ext cx="50333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Animated Clouds · Breakable Rocks · Wall Cleaning · Sliding Doors · Sacred Wall Collapse · Ambient Light Transition</a:t>
            </a:r>
            <a:endParaRPr lang="en-US" sz="1150" dirty="0"/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D3B74508-9681-3CD0-6ADA-6B7D308EE3D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1411"/>
          <a:stretch>
            <a:fillRect/>
          </a:stretch>
        </p:blipFill>
        <p:spPr>
          <a:xfrm>
            <a:off x="7812455" y="4687683"/>
            <a:ext cx="2288388" cy="14494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40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does the player interact with the world?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82676"/>
            <a:ext cx="1563450" cy="287139"/>
          </a:xfrm>
          <a:prstGeom prst="roundRect">
            <a:avLst>
              <a:gd name="adj" fmla="val 7899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74879" y="1939330"/>
            <a:ext cx="194622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PLAYER CONTROLS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382441"/>
            <a:ext cx="10868745" cy="2178248"/>
          </a:xfrm>
          <a:prstGeom prst="roundRect">
            <a:avLst>
              <a:gd name="adj" fmla="val 1302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61475" y="2382441"/>
            <a:ext cx="3622882" cy="1089124"/>
          </a:xfrm>
          <a:custGeom>
            <a:avLst/>
            <a:gdLst/>
            <a:ahLst/>
            <a:cxnLst/>
            <a:rect l="l" t="t" r="r" b="b"/>
            <a:pathLst>
              <a:path w="3622882" h="1089124">
                <a:moveTo>
                  <a:pt x="23627" y="0"/>
                </a:moveTo>
                <a:lnTo>
                  <a:pt x="3622882" y="0"/>
                </a:lnTo>
                <a:lnTo>
                  <a:pt x="3622882" y="1089124"/>
                </a:lnTo>
                <a:lnTo>
                  <a:pt x="0" y="1089124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0482" y="257145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WASD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2980134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Movement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84357" y="2382441"/>
            <a:ext cx="3622882" cy="1089124"/>
          </a:xfrm>
          <a:prstGeom prst="rect">
            <a:avLst/>
          </a:pr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284357" y="2382441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473364" y="257145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Mouse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473364" y="2980134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Camera Control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07239" y="2382441"/>
            <a:ext cx="3622882" cy="1089124"/>
          </a:xfrm>
          <a:custGeom>
            <a:avLst/>
            <a:gdLst/>
            <a:ahLst/>
            <a:cxnLst/>
            <a:rect l="l" t="t" r="r" b="b"/>
            <a:pathLst>
              <a:path w="3622882" h="1089124">
                <a:moveTo>
                  <a:pt x="0" y="0"/>
                </a:moveTo>
                <a:lnTo>
                  <a:pt x="3599255" y="0"/>
                </a:lnTo>
                <a:arcTo wR="23627" hR="23628" stAng="16200000" swAng="5400000"/>
                <a:lnTo>
                  <a:pt x="3622882" y="1089124"/>
                </a:lnTo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907239" y="2382441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096246" y="257145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96246" y="2980134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3471565"/>
            <a:ext cx="5434273" cy="1089124"/>
          </a:xfrm>
          <a:custGeom>
            <a:avLst/>
            <a:gdLst/>
            <a:ahLst/>
            <a:cxnLst/>
            <a:rect l="l" t="t" r="r" b="b"/>
            <a:pathLst>
              <a:path w="5434273" h="1089124">
                <a:moveTo>
                  <a:pt x="0" y="0"/>
                </a:moveTo>
                <a:lnTo>
                  <a:pt x="5434273" y="0"/>
                </a:lnTo>
                <a:lnTo>
                  <a:pt x="5434273" y="1089124"/>
                </a:lnTo>
                <a:lnTo>
                  <a:pt x="23627" y="1089124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61475" y="3471565"/>
            <a:ext cx="5434273" cy="254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50482" y="3660577"/>
            <a:ext cx="50562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50482" y="4069259"/>
            <a:ext cx="50562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Inventory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095748" y="3471565"/>
            <a:ext cx="5434373" cy="1089124"/>
          </a:xfrm>
          <a:custGeom>
            <a:avLst/>
            <a:gdLst/>
            <a:ahLst/>
            <a:cxnLst/>
            <a:rect l="l" t="t" r="r" b="b"/>
            <a:pathLst>
              <a:path w="5434373" h="1089124">
                <a:moveTo>
                  <a:pt x="0" y="0"/>
                </a:moveTo>
                <a:lnTo>
                  <a:pt x="5434373" y="0"/>
                </a:lnTo>
                <a:lnTo>
                  <a:pt x="5434373" y="1065496"/>
                </a:lnTo>
                <a:arcTo wR="23627" hR="23628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40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6095748" y="3471565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6095748" y="347156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284755" y="366057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ESC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6284755" y="4069259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Pause Menu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61475" y="4773315"/>
            <a:ext cx="1612066" cy="287139"/>
          </a:xfrm>
          <a:prstGeom prst="roundRect">
            <a:avLst>
              <a:gd name="adj" fmla="val 7899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74879" y="4829969"/>
            <a:ext cx="19948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INVENTORY SYSTEM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1475" y="5273080"/>
            <a:ext cx="10868745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Equipment HUD - equipped tools always visible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Inventory Menu - inspect collected items and documents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7416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Internal Game Loop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0431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Game Loop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288605"/>
            <a:ext cx="3504219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Player Input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Collision Detection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Interaction Check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Game State Update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Animations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Rendering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075855"/>
            <a:ext cx="6903269" cy="27062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98511" y="2208577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Player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98511" y="2469444"/>
            <a:ext cx="1263687" cy="203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input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107349" y="2208577"/>
            <a:ext cx="1263687" cy="40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Collision Detection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107349" y="4446261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Rendering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98511" y="4243163"/>
            <a:ext cx="1263687" cy="40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Game State Update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299619"/>
            <a:ext cx="752902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02189" y="802184"/>
            <a:ext cx="1410756" cy="25846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8448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104183" y="853182"/>
            <a:ext cx="1816352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ENDING SEQUENCE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02189" y="1121866"/>
            <a:ext cx="3534282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is the ending implemented?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002189" y="2869803"/>
            <a:ext cx="3534282" cy="213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Collect Relics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 Relics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Hidden Passage Opens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 with Sarcophagus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Ambient Light Animation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Camera Animation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Screen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2189" y="5154315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Animations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02189" y="5573117"/>
            <a:ext cx="353428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Door Opening · Ambient Lighting · Camera Movement</a:t>
            </a:r>
            <a:endParaRPr lang="en-US" sz="13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CF1AEE7E-380E-D969-F1A4-F64B6B00E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22" y="3644551"/>
            <a:ext cx="5044878" cy="218713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17E3ABD2-ECE6-1117-F904-50891918C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122" y="1060648"/>
            <a:ext cx="5044878" cy="19451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1895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344676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DEMO</a:t>
            </a:r>
            <a:endParaRPr lang="en-US" sz="2950" dirty="0"/>
          </a:p>
        </p:txBody>
      </p:sp>
      <p:sp>
        <p:nvSpPr>
          <p:cNvPr id="4" name="Shape 2">
            <a:hlinkClick r:id="rId3"/>
          </p:cNvPr>
          <p:cNvSpPr/>
          <p:nvPr/>
        </p:nvSpPr>
        <p:spPr>
          <a:xfrm>
            <a:off x="472468" y="4154791"/>
            <a:ext cx="10868745" cy="603821"/>
          </a:xfrm>
          <a:prstGeom prst="roundRect">
            <a:avLst>
              <a:gd name="adj" fmla="val 4211"/>
            </a:avLst>
          </a:prstGeom>
          <a:solidFill>
            <a:srgbClr val="404245"/>
          </a:solidFill>
          <a:ln/>
        </p:spPr>
        <p:txBody>
          <a:bodyPr/>
          <a:lstStyle/>
          <a:p>
            <a:pPr algn="ctr"/>
            <a:r>
              <a:rPr lang="it-IT" sz="2800" dirty="0">
                <a:hlinkClick r:id="rId3"/>
              </a:rPr>
              <a:t>THE ETRUSCAN TOMS</a:t>
            </a:r>
            <a:endParaRPr lang="it-IT" sz="2800" dirty="0"/>
          </a:p>
        </p:txBody>
      </p:sp>
      <p:sp>
        <p:nvSpPr>
          <p:cNvPr id="5" name="Text 3"/>
          <p:cNvSpPr/>
          <p:nvPr/>
        </p:nvSpPr>
        <p:spPr>
          <a:xfrm>
            <a:off x="850482" y="4391720"/>
            <a:ext cx="1049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E3F9084-E736-203C-0A3B-5A9F62B40B67}"/>
              </a:ext>
            </a:extLst>
          </p:cNvPr>
          <p:cNvSpPr/>
          <p:nvPr/>
        </p:nvSpPr>
        <p:spPr>
          <a:xfrm>
            <a:off x="661475" y="638552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Martina Leggiero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2963</TotalTime>
  <Words>349</Words>
  <Application>Microsoft Office PowerPoint</Application>
  <PresentationFormat>Widescreen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Manrope Bold</vt:lpstr>
      <vt:lpstr>Manrope</vt:lpstr>
      <vt:lpstr>Arial</vt:lpstr>
      <vt:lpstr>Prata</vt:lpstr>
      <vt:lpstr>Modulo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Martina Leggiero</cp:lastModifiedBy>
  <cp:revision>3</cp:revision>
  <dcterms:created xsi:type="dcterms:W3CDTF">2026-08-23T12:53:09Z</dcterms:created>
  <dcterms:modified xsi:type="dcterms:W3CDTF">2026-08-27T09:40:10Z</dcterms:modified>
</cp:coreProperties>
</file>